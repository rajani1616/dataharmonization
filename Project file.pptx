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92" r:id="rId7"/>
    <p:sldId id="293" r:id="rId8"/>
    <p:sldId id="294" r:id="rId9"/>
    <p:sldId id="295" r:id="rId10"/>
    <p:sldId id="296" r:id="rId11"/>
    <p:sldId id="290" r:id="rId12"/>
    <p:sldId id="291" r:id="rId13"/>
    <p:sldId id="297" r:id="rId14"/>
  </p:sldIdLst>
  <p:sldSz cx="12192000" cy="6858000"/>
  <p:notesSz cx="6858000" cy="9144000"/>
  <p:photoAlbum layout="1pic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3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B4A9-0951-4FB3-A7A3-E0DCF4DA7DFD}" type="datetimeFigureOut">
              <a:rPr lang="en-IN" smtClean="0"/>
              <a:t>14-01-2025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82DC-465B-4A39-B1FB-CAE6D1E1D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36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B4A9-0951-4FB3-A7A3-E0DCF4DA7DFD}" type="datetimeFigureOut">
              <a:rPr lang="en-IN" smtClean="0"/>
              <a:t>14-01-2025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82DC-465B-4A39-B1FB-CAE6D1E1D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930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B4A9-0951-4FB3-A7A3-E0DCF4DA7DFD}" type="datetimeFigureOut">
              <a:rPr lang="en-IN" smtClean="0"/>
              <a:t>14-01-2025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82DC-465B-4A39-B1FB-CAE6D1E1D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862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B4A9-0951-4FB3-A7A3-E0DCF4DA7DFD}" type="datetimeFigureOut">
              <a:rPr lang="en-IN" smtClean="0"/>
              <a:t>14-01-2025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82DC-465B-4A39-B1FB-CAE6D1E1D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33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B4A9-0951-4FB3-A7A3-E0DCF4DA7DFD}" type="datetimeFigureOut">
              <a:rPr lang="en-IN" smtClean="0"/>
              <a:t>14-01-2025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82DC-465B-4A39-B1FB-CAE6D1E1D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583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B4A9-0951-4FB3-A7A3-E0DCF4DA7DFD}" type="datetimeFigureOut">
              <a:rPr lang="en-IN" smtClean="0"/>
              <a:t>14-01-2025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82DC-465B-4A39-B1FB-CAE6D1E1D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68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B4A9-0951-4FB3-A7A3-E0DCF4DA7DFD}" type="datetimeFigureOut">
              <a:rPr lang="en-IN" smtClean="0"/>
              <a:t>14-01-2025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82DC-465B-4A39-B1FB-CAE6D1E1D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707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B4A9-0951-4FB3-A7A3-E0DCF4DA7DFD}" type="datetimeFigureOut">
              <a:rPr lang="en-IN" smtClean="0"/>
              <a:t>14-01-2025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82DC-465B-4A39-B1FB-CAE6D1E1D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91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B4A9-0951-4FB3-A7A3-E0DCF4DA7DFD}" type="datetimeFigureOut">
              <a:rPr lang="en-IN" smtClean="0"/>
              <a:t>14-01-2025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82DC-465B-4A39-B1FB-CAE6D1E1D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011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B4A9-0951-4FB3-A7A3-E0DCF4DA7DFD}" type="datetimeFigureOut">
              <a:rPr lang="en-IN" smtClean="0"/>
              <a:t>14-01-2025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82DC-465B-4A39-B1FB-CAE6D1E1D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540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B4A9-0951-4FB3-A7A3-E0DCF4DA7DFD}" type="datetimeFigureOut">
              <a:rPr lang="en-IN" smtClean="0"/>
              <a:t>14-01-2025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82DC-465B-4A39-B1FB-CAE6D1E1D0F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6908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B4A9-0951-4FB3-A7A3-E0DCF4DA7DFD}" type="datetimeFigureOut">
              <a:rPr lang="en-IN" smtClean="0"/>
              <a:t>14-01-2025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82DC-465B-4A39-B1FB-CAE6D1E1D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010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B4A9-0951-4FB3-A7A3-E0DCF4DA7DFD}" type="datetimeFigureOut">
              <a:rPr lang="en-IN" smtClean="0"/>
              <a:t>14-01-2025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82DC-465B-4A39-B1FB-CAE6D1E1D0F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3367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B4A9-0951-4FB3-A7A3-E0DCF4DA7DFD}" type="datetimeFigureOut">
              <a:rPr lang="en-IN" smtClean="0"/>
              <a:t>14-01-2025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82DC-465B-4A39-B1FB-CAE6D1E1D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4896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B4A9-0951-4FB3-A7A3-E0DCF4DA7DFD}" type="datetimeFigureOut">
              <a:rPr lang="en-IN" smtClean="0"/>
              <a:t>14-01-2025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82DC-465B-4A39-B1FB-CAE6D1E1D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666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B4A9-0951-4FB3-A7A3-E0DCF4DA7DFD}" type="datetimeFigureOut">
              <a:rPr lang="en-IN" smtClean="0"/>
              <a:t>14-01-2025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82DC-465B-4A39-B1FB-CAE6D1E1D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973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3B4A9-0951-4FB3-A7A3-E0DCF4DA7DFD}" type="datetimeFigureOut">
              <a:rPr lang="en-IN" smtClean="0"/>
              <a:t>14-01-2025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CF82DC-465B-4A39-B1FB-CAE6D1E1D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91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ln w="28575">
            <a:solidFill>
              <a:srgbClr val="00B0F0"/>
            </a:solidFill>
          </a:ln>
        </p:spPr>
        <p:txBody>
          <a:bodyPr/>
          <a:lstStyle/>
          <a:p>
            <a:pPr algn="ctr"/>
            <a:r>
              <a:rPr lang="en-IN" dirty="0" smtClean="0">
                <a:solidFill>
                  <a:schemeClr val="bg2">
                    <a:lumMod val="10000"/>
                  </a:schemeClr>
                </a:solidFill>
              </a:rPr>
              <a:t>Data Harmonization and Insights extraction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mtClean="0"/>
              <a:t>by Windows User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992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isPhoto="1"/>
        </p:nvSpPr>
        <p:spPr>
          <a:xfrm>
            <a:off x="685800" y="685800"/>
            <a:ext cx="10820400" cy="54864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/>
            <a:endParaRPr lang="en-IN" sz="3200" dirty="0"/>
          </a:p>
        </p:txBody>
      </p:sp>
      <p:sp>
        <p:nvSpPr>
          <p:cNvPr id="3" name="Rectangle 2"/>
          <p:cNvSpPr/>
          <p:nvPr/>
        </p:nvSpPr>
        <p:spPr>
          <a:xfrm>
            <a:off x="3700400" y="462013"/>
            <a:ext cx="371127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5400" b="1" dirty="0" smtClean="0"/>
              <a:t>OBJECTIVE</a:t>
            </a:r>
            <a:endParaRPr lang="en-IN" sz="5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655545" y="2315300"/>
            <a:ext cx="8393230" cy="166199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US" dirty="0"/>
              <a:t> </a:t>
            </a:r>
            <a:r>
              <a:rPr lang="en-US" sz="2800" b="1" dirty="0"/>
              <a:t>The goal is to leverage advanced data-wrangling techniques to produce a clean, unified dataset for future business analysis and modeling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665173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ject2ppt_page-0001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3" t="15997" r="38705" b="68352"/>
          <a:stretch/>
        </p:blipFill>
        <p:spPr>
          <a:xfrm>
            <a:off x="240631" y="2576583"/>
            <a:ext cx="9844815" cy="275581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1270535" y="1001027"/>
            <a:ext cx="83739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u="sng" dirty="0" smtClean="0"/>
              <a:t>Data Harmonization</a:t>
            </a:r>
            <a:endParaRPr lang="en-IN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856648" y="2002055"/>
            <a:ext cx="8373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Libraries Used for Visualising the data provided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0741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ject2ppt_page-0002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1" t="9053" r="49770" b="82083"/>
          <a:stretch/>
        </p:blipFill>
        <p:spPr>
          <a:xfrm>
            <a:off x="1203159" y="555533"/>
            <a:ext cx="7729086" cy="17790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2885530" y="0"/>
            <a:ext cx="50810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i="0" dirty="0" smtClean="0">
                <a:effectLst/>
                <a:latin typeface="system-ui"/>
              </a:rPr>
              <a:t>DATA PRE-PROCESSING</a:t>
            </a:r>
            <a:endParaRPr lang="en-IN" sz="3200" b="1" i="0" dirty="0">
              <a:effectLst/>
              <a:latin typeface="system-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77182" y="2634529"/>
            <a:ext cx="60582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smtClean="0"/>
              <a:t>PRINTING FIRST FEW ROWS OF DATASET1</a:t>
            </a:r>
            <a:endParaRPr lang="en-IN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2102831" y="3367017"/>
            <a:ext cx="2024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1. Dataset1.info()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2128479" y="3857660"/>
            <a:ext cx="2127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2. Dataset1.head()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2077182" y="4313342"/>
            <a:ext cx="20505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3. Dataset1.shape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2102831" y="4725849"/>
            <a:ext cx="24961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4. Dataset1.describe()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2102831" y="5181531"/>
            <a:ext cx="2837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5. Dataset1.isnull().sum()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2128479" y="5637213"/>
            <a:ext cx="2722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6. Dataset1.duplicated()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5112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ject2ppt_page-0004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7" t="58555" r="53475" b="16009"/>
          <a:stretch/>
        </p:blipFill>
        <p:spPr>
          <a:xfrm>
            <a:off x="5784784" y="-135354"/>
            <a:ext cx="3272588" cy="232271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183108" y="231622"/>
            <a:ext cx="3794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DATA VISULATIONS FOR DATASET1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144608" y="577717"/>
            <a:ext cx="3294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 Line Plot for Temporal Trends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221381" y="1026001"/>
            <a:ext cx="5659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Line plot represents the variations in the temperature on day to day</a:t>
            </a:r>
            <a:endParaRPr lang="en-IN" dirty="0"/>
          </a:p>
        </p:txBody>
      </p:sp>
      <p:pic>
        <p:nvPicPr>
          <p:cNvPr id="8" name="Picture 7" descr="project2ppt_page-0005"/>
          <p:cNvPicPr>
            <a:picLocks noGrp="1" noChangeAspect="1"/>
          </p:cNvPicPr>
          <p:nvPr isPhoto="1"/>
        </p:nvPicPr>
        <p:blipFill rotWithShape="1"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9" t="15153" r="51076" b="72230"/>
          <a:stretch/>
        </p:blipFill>
        <p:spPr>
          <a:xfrm>
            <a:off x="5881036" y="2414333"/>
            <a:ext cx="3243713" cy="1868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project2ppt_page-0005"/>
          <p:cNvPicPr>
            <a:picLocks noGrp="1" noChangeAspect="1"/>
          </p:cNvPicPr>
          <p:nvPr isPhoto="1"/>
        </p:nvPicPr>
        <p:blipFill rotWithShape="1"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8" t="49963" r="36037" b="35843"/>
          <a:stretch/>
        </p:blipFill>
        <p:spPr>
          <a:xfrm>
            <a:off x="5881036" y="4581624"/>
            <a:ext cx="3031958" cy="152201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/>
          <p:cNvSpPr/>
          <p:nvPr/>
        </p:nvSpPr>
        <p:spPr>
          <a:xfrm>
            <a:off x="183108" y="2560608"/>
            <a:ext cx="51058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Distribution of temperature using a histogram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221381" y="4822877"/>
            <a:ext cx="54152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Scatter plot for temperature vs. weather situation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8530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6297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smtClean="0"/>
              <a:t>PRINTING FIRST FEW ROWS OF DATASET2 (Please refer slide no:4)</a:t>
            </a:r>
            <a:endParaRPr lang="en-IN" sz="2400" b="1" dirty="0"/>
          </a:p>
        </p:txBody>
      </p:sp>
      <p:pic>
        <p:nvPicPr>
          <p:cNvPr id="16" name="Picture 15" descr="project2ppt_page-0007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9" t="16447" r="47106" b="55132"/>
          <a:stretch/>
        </p:blipFill>
        <p:spPr>
          <a:xfrm>
            <a:off x="6805062" y="461665"/>
            <a:ext cx="2483319" cy="194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 descr="project2ppt_page-0007"/>
          <p:cNvPicPr>
            <a:picLocks noGrp="1" noChangeAspect="1"/>
          </p:cNvPicPr>
          <p:nvPr isPhoto="1"/>
        </p:nvPicPr>
        <p:blipFill rotWithShape="1"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9" t="58728" r="37184" b="14079"/>
          <a:stretch/>
        </p:blipFill>
        <p:spPr>
          <a:xfrm>
            <a:off x="6641433" y="2406316"/>
            <a:ext cx="2483319" cy="170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 descr="project2ppt_page-0008"/>
          <p:cNvPicPr>
            <a:picLocks noGrp="1" noChangeAspect="1"/>
          </p:cNvPicPr>
          <p:nvPr isPhoto="1"/>
        </p:nvPicPr>
        <p:blipFill rotWithShape="1"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6" t="9079" r="46609" b="63202"/>
          <a:stretch/>
        </p:blipFill>
        <p:spPr>
          <a:xfrm>
            <a:off x="6323799" y="4109477"/>
            <a:ext cx="2868331" cy="219998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Rectangle 18"/>
          <p:cNvSpPr/>
          <p:nvPr/>
        </p:nvSpPr>
        <p:spPr>
          <a:xfrm>
            <a:off x="227799" y="78765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Line plot represents the variations in the registered of bikes on casual days.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331360" y="2406316"/>
            <a:ext cx="4801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Distribution of Wind speed using a histogram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227799" y="4187610"/>
            <a:ext cx="58753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Scatter plot between two variables of Wind speed and </a:t>
            </a:r>
          </a:p>
          <a:p>
            <a:r>
              <a:rPr lang="en-IN" dirty="0" smtClean="0"/>
              <a:t>Humidity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8788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8632" y="202752"/>
            <a:ext cx="80425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Merging of two datasets( dataset1 and dataset2) and then </a:t>
            </a:r>
            <a:r>
              <a:rPr lang="en-IN" b="1" dirty="0" smtClean="0"/>
              <a:t>PRINTING FIRST</a:t>
            </a:r>
          </a:p>
          <a:p>
            <a:r>
              <a:rPr lang="en-IN" b="1" dirty="0" smtClean="0"/>
              <a:t> FEW ROWS</a:t>
            </a:r>
            <a:r>
              <a:rPr lang="en-IN" dirty="0" smtClean="0"/>
              <a:t> of merged Dataset</a:t>
            </a:r>
            <a:endParaRPr lang="en-IN" dirty="0"/>
          </a:p>
        </p:txBody>
      </p:sp>
      <p:pic>
        <p:nvPicPr>
          <p:cNvPr id="3" name="Picture 2" descr="project2ppt_page-0014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1" t="35921" r="66208" b="45307"/>
          <a:stretch/>
        </p:blipFill>
        <p:spPr>
          <a:xfrm>
            <a:off x="6333423" y="702644"/>
            <a:ext cx="3234089" cy="2136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project2ppt_page-0014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9" t="70658" r="49090" b="4605"/>
          <a:stretch/>
        </p:blipFill>
        <p:spPr>
          <a:xfrm>
            <a:off x="6910939" y="3272589"/>
            <a:ext cx="2656573" cy="192505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528598" y="1290270"/>
            <a:ext cx="65604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Distribution of </a:t>
            </a:r>
            <a:r>
              <a:rPr lang="en-IN" dirty="0" err="1" smtClean="0"/>
              <a:t>Weathersit</a:t>
            </a:r>
            <a:r>
              <a:rPr lang="en-IN" dirty="0" smtClean="0"/>
              <a:t> and temperature using a histogram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528598" y="328064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Scatter plot between two variables of Temperature and </a:t>
            </a:r>
          </a:p>
          <a:p>
            <a:r>
              <a:rPr lang="en-IN" dirty="0" smtClean="0"/>
              <a:t>Season.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3600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ject2ppt_page-0017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9" t="8377" r="48595" b="67237"/>
          <a:stretch/>
        </p:blipFill>
        <p:spPr>
          <a:xfrm>
            <a:off x="7709835" y="616016"/>
            <a:ext cx="1674796" cy="133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project2ppt_page-0017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4" t="49605" r="40160" b="26009"/>
          <a:stretch/>
        </p:blipFill>
        <p:spPr>
          <a:xfrm>
            <a:off x="7796462" y="2281187"/>
            <a:ext cx="1674796" cy="133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project2ppt_page-0018"/>
          <p:cNvPicPr>
            <a:picLocks noGrp="1" noChangeAspect="1"/>
          </p:cNvPicPr>
          <p:nvPr isPhoto="1"/>
        </p:nvPicPr>
        <p:blipFill rotWithShape="1"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7" t="2939" r="49834" b="72500"/>
          <a:stretch/>
        </p:blipFill>
        <p:spPr>
          <a:xfrm>
            <a:off x="7709835" y="4341961"/>
            <a:ext cx="1665171" cy="134753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0" y="154351"/>
            <a:ext cx="96297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smtClean="0"/>
              <a:t>PRINTING FIRST FEW ROWS OF DATASET3(Please refer slide no:4)</a:t>
            </a:r>
            <a:endParaRPr lang="en-IN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227799" y="94201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Line plot represents the variations in the registered of bikes on casual days.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331360" y="2560667"/>
            <a:ext cx="4801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Distribution of Wind speed using a histogram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227799" y="4534466"/>
            <a:ext cx="73857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Scatter plot between two variables of Wind speed and Humidity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1383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ject2ppt_page-0026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5" t="2588" r="54548" b="74956"/>
          <a:stretch/>
        </p:blipFill>
        <p:spPr>
          <a:xfrm>
            <a:off x="7382576" y="101065"/>
            <a:ext cx="1973180" cy="1232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project2ppt_page-0026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0" t="52939" r="52563" b="24605"/>
          <a:stretch/>
        </p:blipFill>
        <p:spPr>
          <a:xfrm>
            <a:off x="7526957" y="1453414"/>
            <a:ext cx="2050180" cy="1232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project2ppt_page-0027"/>
          <p:cNvPicPr>
            <a:picLocks noGrp="1" noChangeAspect="1"/>
          </p:cNvPicPr>
          <p:nvPr isPhoto="1"/>
        </p:nvPicPr>
        <p:blipFill rotWithShape="1"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6" t="55222" r="36438" b="8461"/>
          <a:stretch/>
        </p:blipFill>
        <p:spPr>
          <a:xfrm>
            <a:off x="7488455" y="2805763"/>
            <a:ext cx="2127183" cy="1992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project2ppt_page-0028"/>
          <p:cNvPicPr>
            <a:picLocks noGrp="1" noChangeAspect="1"/>
          </p:cNvPicPr>
          <p:nvPr isPhoto="1"/>
        </p:nvPicPr>
        <p:blipFill rotWithShape="1"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7" t="12587" r="31973" b="44255"/>
          <a:stretch/>
        </p:blipFill>
        <p:spPr>
          <a:xfrm>
            <a:off x="7411450" y="4586436"/>
            <a:ext cx="2310063" cy="23678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766813" y="162354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Line plot represents the variations in the </a:t>
            </a:r>
            <a:r>
              <a:rPr lang="en-IN" dirty="0" err="1" smtClean="0"/>
              <a:t>weathersit</a:t>
            </a:r>
            <a:r>
              <a:rPr lang="en-IN" dirty="0" smtClean="0"/>
              <a:t> on </a:t>
            </a:r>
            <a:r>
              <a:rPr lang="en-IN" dirty="0" smtClean="0"/>
              <a:t>Week</a:t>
            </a:r>
            <a:r>
              <a:rPr lang="en-IN" dirty="0" smtClean="0"/>
              <a:t>days.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766813" y="46851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Distribution of </a:t>
            </a:r>
            <a:r>
              <a:rPr lang="en-IN" dirty="0" err="1" smtClean="0"/>
              <a:t>Windspeed</a:t>
            </a:r>
            <a:r>
              <a:rPr lang="en-IN" dirty="0" smtClean="0"/>
              <a:t> and temperature using a histogram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766813" y="299033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Scatter plot between two variables of day and Humidity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766813" y="4613526"/>
            <a:ext cx="4530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 Aggregate data for a categorical column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1114587" y="5200134"/>
            <a:ext cx="2520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Proportion of humidity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9030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6" t="1296" r="9408" b="60000"/>
          <a:stretch/>
        </p:blipFill>
        <p:spPr>
          <a:xfrm>
            <a:off x="6045199" y="0"/>
            <a:ext cx="3937001" cy="26543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7562" y="234434"/>
            <a:ext cx="48996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Correlation Matrix for All Numeric Variables</a:t>
            </a:r>
            <a:endParaRPr lang="en-US" b="1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14636" y="1165909"/>
            <a:ext cx="57785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helps identify which variables are most strongly related to temperature:</a:t>
            </a: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</p:txBody>
      </p:sp>
      <p:pic>
        <p:nvPicPr>
          <p:cNvPr id="7" name="Picture 6" descr="project2ppt_page-0029"/>
          <p:cNvPicPr>
            <a:picLocks noGrp="1" noChangeAspect="1"/>
          </p:cNvPicPr>
          <p:nvPr isPhoto="1"/>
        </p:nvPicPr>
        <p:blipFill rotWithShape="1"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6" t="50462" r="30189" b="20139"/>
          <a:stretch/>
        </p:blipFill>
        <p:spPr>
          <a:xfrm>
            <a:off x="304800" y="2654300"/>
            <a:ext cx="3743871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6312848" y="2990334"/>
            <a:ext cx="38731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Finding the Outliers after merging</a:t>
            </a:r>
          </a:p>
          <a:p>
            <a:r>
              <a:rPr lang="en-IN" b="1" dirty="0" smtClean="0"/>
              <a:t> dataset3 and merged data</a:t>
            </a:r>
            <a:endParaRPr lang="en-IN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327900" y="4470400"/>
            <a:ext cx="2858124" cy="445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4255762" y="4083050"/>
            <a:ext cx="59650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There are some outliers deducted from the final data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54263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ject2ppt_page-0033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21" t="15278" r="12356" b="35648"/>
          <a:stretch/>
        </p:blipFill>
        <p:spPr>
          <a:xfrm>
            <a:off x="6045199" y="723900"/>
            <a:ext cx="4167039" cy="375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533400" y="17977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This helps identify which variables are most strongly related to temperature:</a:t>
            </a: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0562" y="891486"/>
            <a:ext cx="48996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Correlation Matrix for All Numeric Variables</a:t>
            </a:r>
          </a:p>
          <a:p>
            <a:r>
              <a:rPr lang="en-US" b="1" dirty="0" smtClean="0"/>
              <a:t> of final merged data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46793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ject2ppt_page-0034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4" r="35925" b="69143"/>
          <a:stretch/>
        </p:blipFill>
        <p:spPr>
          <a:xfrm>
            <a:off x="5094249" y="927100"/>
            <a:ext cx="4799052" cy="365226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90162" y="818634"/>
            <a:ext cx="48996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Correlation Matrix for All Numeric Variables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267962" y="1428234"/>
            <a:ext cx="20345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Handled outliers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2646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68096" y="2306935"/>
            <a:ext cx="33570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</a:t>
            </a:r>
            <a:endParaRPr lang="en-US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8122275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150</TotalTime>
  <Words>338</Words>
  <Application>Microsoft Office PowerPoint</Application>
  <PresentationFormat>Widescreen</PresentationFormat>
  <Paragraphs>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 Unicode MS</vt:lpstr>
      <vt:lpstr>Arial</vt:lpstr>
      <vt:lpstr>system-ui</vt:lpstr>
      <vt:lpstr>Trebuchet MS</vt:lpstr>
      <vt:lpstr>Wingdings 3</vt:lpstr>
      <vt:lpstr>Facet</vt:lpstr>
      <vt:lpstr>Data Harmonization and Insights extraction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Album</dc:title>
  <dc:creator>Windows User</dc:creator>
  <cp:lastModifiedBy>Windows User</cp:lastModifiedBy>
  <cp:revision>16</cp:revision>
  <dcterms:created xsi:type="dcterms:W3CDTF">2025-01-14T17:51:57Z</dcterms:created>
  <dcterms:modified xsi:type="dcterms:W3CDTF">2025-01-14T20:22:26Z</dcterms:modified>
</cp:coreProperties>
</file>